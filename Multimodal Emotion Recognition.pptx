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82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74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64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05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54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07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83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4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06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03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20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771FBD-79E5-41FF-8668-A3BCC1634C55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373ADA-AB5A-4DBE-82DC-906A592D4C1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2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EEC5-BAD0-1660-F053-A8810856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Multimodal Emotion Recognition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796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6C8C-3A02-E569-2D7E-C8F36966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2" y="122479"/>
            <a:ext cx="5726723" cy="1450757"/>
          </a:xfrm>
        </p:spPr>
        <p:txBody>
          <a:bodyPr/>
          <a:lstStyle/>
          <a:p>
            <a:r>
              <a:rPr lang="en-GB" b="1" dirty="0"/>
              <a:t>Project Overview	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B7C648-0BBC-AA5C-2AA2-6930421D5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2662" y="1878644"/>
            <a:ext cx="8990025" cy="254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Real-time Emotion 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(Webcam + Microphone)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Two functionalities: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Multimodal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Face emotion + Speech emotion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Gamification: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2-player facial emotion game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Common label set (6 emotions):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Angry, Fear, Happy, Neutral, Sad, Surprise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Main demo 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Face detect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lock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emotion → record speech → predict → display results</a:t>
            </a:r>
          </a:p>
        </p:txBody>
      </p:sp>
    </p:spTree>
    <p:extLst>
      <p:ext uri="{BB962C8B-B14F-4D97-AF65-F5344CB8AC3E}">
        <p14:creationId xmlns:p14="http://schemas.microsoft.com/office/powerpoint/2010/main" val="419732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6C31-40D9-EE6E-9669-625CDA67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33" y="798879"/>
            <a:ext cx="10515600" cy="791871"/>
          </a:xfrm>
        </p:spPr>
        <p:txBody>
          <a:bodyPr/>
          <a:lstStyle/>
          <a:p>
            <a:r>
              <a:rPr lang="en-GB" b="1" dirty="0">
                <a:latin typeface="Meta os"/>
              </a:rPr>
              <a:t>FER: Dataset + Label Mapping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1D9D4B-0D24-F302-FF1A-025FB7844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1033" y="2238954"/>
            <a:ext cx="11160967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RAF-DB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Labels: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7 classes →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use 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(remove Disgust because match the shape)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Final classes: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Surprise, Fear, Happy, Sad, Angry, Neutral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Imbalance handling (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Oversampling because in dataset the number of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img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of that class is less compare to others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Fear ×5, Angry ×3, Sad ×2</a:t>
            </a:r>
          </a:p>
        </p:txBody>
      </p:sp>
    </p:spTree>
    <p:extLst>
      <p:ext uri="{BB962C8B-B14F-4D97-AF65-F5344CB8AC3E}">
        <p14:creationId xmlns:p14="http://schemas.microsoft.com/office/powerpoint/2010/main" val="323262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339F-3F79-9170-E7AB-40DBD647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2032"/>
            <a:ext cx="3791243" cy="1127760"/>
          </a:xfrm>
        </p:spPr>
        <p:txBody>
          <a:bodyPr/>
          <a:lstStyle/>
          <a:p>
            <a:r>
              <a:rPr lang="de-DE" b="1" dirty="0">
                <a:latin typeface="Meta os"/>
              </a:rPr>
              <a:t>Fine-tuning</a:t>
            </a:r>
            <a:endParaRPr lang="en-GB" b="1" dirty="0">
              <a:latin typeface="Meta 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883E-08CE-17B1-DE92-B82564D3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8141"/>
            <a:ext cx="10515600" cy="359642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Model: ResNet-50 (pretrained)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Fine-tuning (2 phases):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Train classifier head: 10 epochs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Fine-tune network: 35 epochs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Loss: Weighted Cross-Entropy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>
                <a:latin typeface="Meta os"/>
              </a:rPr>
              <a:t>Augmentation: </a:t>
            </a:r>
            <a:r>
              <a:rPr lang="en-GB" sz="1800" dirty="0" err="1">
                <a:latin typeface="Meta os"/>
              </a:rPr>
              <a:t>Albumentations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Saved checkpoint: 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ta os"/>
              </a:rPr>
              <a:t>rafdb_resnet50_6classes_weighted.pth</a:t>
            </a:r>
          </a:p>
          <a:p>
            <a:endParaRPr lang="en-GB" sz="1800" dirty="0">
              <a:latin typeface="Meta os"/>
            </a:endParaRPr>
          </a:p>
        </p:txBody>
      </p:sp>
    </p:spTree>
    <p:extLst>
      <p:ext uri="{BB962C8B-B14F-4D97-AF65-F5344CB8AC3E}">
        <p14:creationId xmlns:p14="http://schemas.microsoft.com/office/powerpoint/2010/main" val="224270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215F-E7C5-14F8-FA72-8315C874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8585"/>
            <a:ext cx="10058400" cy="1092591"/>
          </a:xfrm>
        </p:spPr>
        <p:txBody>
          <a:bodyPr/>
          <a:lstStyle/>
          <a:p>
            <a:r>
              <a:rPr lang="en-GB" b="1" dirty="0">
                <a:latin typeface="Meta os"/>
              </a:rPr>
              <a:t>FER: Implemented Features (Runtime)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D35EE6-D9D1-3ADA-8878-B4C4156DAB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9369" y="1882998"/>
            <a:ext cx="6804683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Realtime FER demo: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ta os"/>
              </a:rPr>
              <a:t>run_webcam.py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Meta os"/>
              </a:rPr>
              <a:t>            -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Output: face box + emotion label + confidence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Gamification mode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ta os"/>
              </a:rPr>
              <a:t>emotion_game.py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        -	Requires 2 faces (Player 1 / Player 2)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Meta os"/>
              </a:rPr>
              <a:t>           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	Target emotion shown each round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Meta os"/>
              </a:rPr>
              <a:t>           -	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Winner = average target-emotion confidence (stable scoring)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</p:txBody>
      </p:sp>
    </p:spTree>
    <p:extLst>
      <p:ext uri="{BB962C8B-B14F-4D97-AF65-F5344CB8AC3E}">
        <p14:creationId xmlns:p14="http://schemas.microsoft.com/office/powerpoint/2010/main" val="128622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BD01-998F-7724-615D-316CBD75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96" y="316449"/>
            <a:ext cx="10058400" cy="1221545"/>
          </a:xfrm>
        </p:spPr>
        <p:txBody>
          <a:bodyPr/>
          <a:lstStyle/>
          <a:p>
            <a:r>
              <a:rPr lang="en-GB" b="1" dirty="0">
                <a:latin typeface="Meta os"/>
              </a:rPr>
              <a:t>SER: Datasets + Label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67DAB-7855-48CF-16F3-72B7341DA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227" y="187251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b="1" dirty="0">
                <a:latin typeface="Meta os"/>
              </a:rPr>
              <a:t>Datasets:</a:t>
            </a:r>
            <a:r>
              <a:rPr lang="en-GB" dirty="0">
                <a:latin typeface="Meta os"/>
              </a:rPr>
              <a:t> RAVDESS + CREMA-D + MELD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latin typeface="Meta os"/>
              </a:rPr>
              <a:t>Different domains:</a:t>
            </a:r>
            <a:endParaRPr lang="en-GB" sz="1800" dirty="0">
              <a:latin typeface="Meta os"/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eta os"/>
              </a:rPr>
              <a:t>RAVDESS / CREMA-D = acted emotional speech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eta os"/>
              </a:rPr>
              <a:t>MELD = conversational/dialogue speech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latin typeface="Meta os"/>
              </a:rPr>
              <a:t>Why combine:</a:t>
            </a:r>
            <a:r>
              <a:rPr lang="en-GB" sz="1800" dirty="0">
                <a:latin typeface="Meta os"/>
              </a:rPr>
              <a:t> more variety → </a:t>
            </a:r>
            <a:r>
              <a:rPr lang="en-GB" sz="1800" b="1" dirty="0">
                <a:latin typeface="Meta os"/>
              </a:rPr>
              <a:t>harder training</a:t>
            </a:r>
            <a:r>
              <a:rPr lang="en-GB" sz="1800" dirty="0">
                <a:latin typeface="Meta os"/>
              </a:rPr>
              <a:t> (distribution mismatch)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latin typeface="Meta os"/>
              </a:rPr>
              <a:t>Label mapping (for 6-class alignment):</a:t>
            </a:r>
            <a:endParaRPr lang="en-GB" sz="1800" dirty="0">
              <a:latin typeface="Meta os"/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eta os"/>
              </a:rPr>
              <a:t>RAVDESS: </a:t>
            </a:r>
            <a:r>
              <a:rPr lang="en-GB" b="1" dirty="0">
                <a:latin typeface="Meta os"/>
              </a:rPr>
              <a:t>calm → neutral</a:t>
            </a:r>
            <a:r>
              <a:rPr lang="en-GB" dirty="0">
                <a:latin typeface="Meta os"/>
              </a:rPr>
              <a:t>, </a:t>
            </a:r>
            <a:r>
              <a:rPr lang="en-GB" b="1" dirty="0">
                <a:latin typeface="Meta os"/>
              </a:rPr>
              <a:t>disgust removed</a:t>
            </a:r>
            <a:endParaRPr lang="en-GB" dirty="0">
              <a:latin typeface="Meta os"/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eta os"/>
              </a:rPr>
              <a:t>MELD: </a:t>
            </a:r>
            <a:r>
              <a:rPr lang="en-GB" b="1" dirty="0">
                <a:latin typeface="Meta os"/>
              </a:rPr>
              <a:t>joy → happy</a:t>
            </a:r>
            <a:r>
              <a:rPr lang="en-GB" dirty="0">
                <a:latin typeface="Meta os"/>
              </a:rPr>
              <a:t>, </a:t>
            </a:r>
            <a:r>
              <a:rPr lang="en-GB" b="1" dirty="0">
                <a:latin typeface="Meta os"/>
              </a:rPr>
              <a:t>disgust removed</a:t>
            </a:r>
            <a:endParaRPr lang="en-GB" dirty="0">
              <a:latin typeface="Meta os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latin typeface="Meta os"/>
              </a:rPr>
              <a:t>Split strategy:</a:t>
            </a:r>
            <a:r>
              <a:rPr lang="en-GB" sz="1800" dirty="0">
                <a:latin typeface="Meta os"/>
              </a:rPr>
              <a:t> </a:t>
            </a:r>
            <a:r>
              <a:rPr lang="en-GB" sz="1800" b="1" dirty="0">
                <a:latin typeface="Meta os"/>
              </a:rPr>
              <a:t>speaker-disjoint</a:t>
            </a:r>
            <a:r>
              <a:rPr lang="en-GB" sz="1800" dirty="0">
                <a:latin typeface="Meta os"/>
              </a:rPr>
              <a:t> (no speaker leakage)</a:t>
            </a:r>
          </a:p>
        </p:txBody>
      </p:sp>
    </p:spTree>
    <p:extLst>
      <p:ext uri="{BB962C8B-B14F-4D97-AF65-F5344CB8AC3E}">
        <p14:creationId xmlns:p14="http://schemas.microsoft.com/office/powerpoint/2010/main" val="17112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A82E-FB28-EDAD-F90E-AFD07B49B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2031"/>
            <a:ext cx="10058400" cy="1174652"/>
          </a:xfrm>
        </p:spPr>
        <p:txBody>
          <a:bodyPr/>
          <a:lstStyle/>
          <a:p>
            <a:r>
              <a:rPr lang="en-GB" b="1" dirty="0">
                <a:latin typeface="Meta os"/>
              </a:rPr>
              <a:t>SER: Training + Real-time Inference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8ED0CDB-E1F6-B062-6010-1C6F3B86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949" y="1944706"/>
            <a:ext cx="8685583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Backbone: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WavLM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-base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Training (2 phases):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Train on merged datasets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Fine-tune classifier head on small custom recorded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Offline 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lower due to mixed dataset domains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Custom head fine-tuning accuracy: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~67%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Realtime mic inference: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probability output shows ambiguity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Example: Sad →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80% Sad, 15% Neutral, 5% Fear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  Audio pipeline: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 record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at 48 kHz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→ peak normalize → resample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16 kHz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(model input)</a:t>
            </a:r>
          </a:p>
        </p:txBody>
      </p:sp>
    </p:spTree>
    <p:extLst>
      <p:ext uri="{BB962C8B-B14F-4D97-AF65-F5344CB8AC3E}">
        <p14:creationId xmlns:p14="http://schemas.microsoft.com/office/powerpoint/2010/main" val="320770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09C9-7DCE-D672-BB3F-BB053EEC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5943"/>
            <a:ext cx="10058400" cy="1256714"/>
          </a:xfrm>
        </p:spPr>
        <p:txBody>
          <a:bodyPr/>
          <a:lstStyle/>
          <a:p>
            <a:r>
              <a:rPr lang="en-GB" b="1" dirty="0">
                <a:latin typeface="Meta os"/>
              </a:rPr>
              <a:t>Multimodal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292E3C-3C67-D694-C55A-D226F9718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4547" y="1965482"/>
            <a:ext cx="8078558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Main file: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ta os"/>
              </a:rPr>
              <a:t>final_multimodal_system.py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Flow: Face detect → lock emotion → record speech → predict → show FACE+VOICE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Live demo plan: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hold expression (lock)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speak emotion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show results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ta os"/>
              </a:rPr>
              <a:t>quick game round (optional)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ta os"/>
            </a:endParaRPr>
          </a:p>
        </p:txBody>
      </p:sp>
    </p:spTree>
    <p:extLst>
      <p:ext uri="{BB962C8B-B14F-4D97-AF65-F5344CB8AC3E}">
        <p14:creationId xmlns:p14="http://schemas.microsoft.com/office/powerpoint/2010/main" val="1414690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70A0-67DB-F634-FEF2-0D1846548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953270"/>
            <a:ext cx="10058400" cy="3566160"/>
          </a:xfrm>
        </p:spPr>
        <p:txBody>
          <a:bodyPr>
            <a:normAutofit fontScale="90000"/>
          </a:bodyPr>
          <a:lstStyle/>
          <a:p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br>
              <a:rPr lang="de-DE" b="1" dirty="0"/>
            </a:br>
            <a:r>
              <a:rPr lang="de-DE" b="1" dirty="0" err="1"/>
              <a:t>Thank</a:t>
            </a:r>
            <a:r>
              <a:rPr lang="de-DE" b="1" dirty="0"/>
              <a:t> </a:t>
            </a:r>
            <a:r>
              <a:rPr lang="de-DE" b="1" dirty="0" err="1"/>
              <a:t>you</a:t>
            </a:r>
            <a:r>
              <a:rPr lang="de-DE" b="1" dirty="0"/>
              <a:t> </a:t>
            </a:r>
            <a:r>
              <a:rPr lang="de-DE" b="1" dirty="0">
                <a:sym typeface="Wingdings" panose="05000000000000000000" pitchFamily="2" charset="2"/>
              </a:rPr>
              <a:t></a:t>
            </a:r>
            <a:br>
              <a:rPr lang="de-DE" b="1" dirty="0">
                <a:sym typeface="Wingdings" panose="05000000000000000000" pitchFamily="2" charset="2"/>
              </a:rPr>
            </a:b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03612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0</TotalTime>
  <Words>472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Meta os</vt:lpstr>
      <vt:lpstr>Wingdings</vt:lpstr>
      <vt:lpstr>Retrospect</vt:lpstr>
      <vt:lpstr>Multimodal Emotion Recognition </vt:lpstr>
      <vt:lpstr>Project Overview  </vt:lpstr>
      <vt:lpstr>FER: Dataset + Label Mapping</vt:lpstr>
      <vt:lpstr>Fine-tuning</vt:lpstr>
      <vt:lpstr>FER: Implemented Features (Runtime)</vt:lpstr>
      <vt:lpstr>SER: Datasets + Label Mapping</vt:lpstr>
      <vt:lpstr>SER: Training + Real-time Inference</vt:lpstr>
      <vt:lpstr>Multimodal System</vt:lpstr>
      <vt:lpstr>        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Umang Dholakiya</dc:creator>
  <cp:lastModifiedBy>Umang Dholakiya</cp:lastModifiedBy>
  <cp:revision>4</cp:revision>
  <dcterms:created xsi:type="dcterms:W3CDTF">2025-12-29T22:38:07Z</dcterms:created>
  <dcterms:modified xsi:type="dcterms:W3CDTF">2026-01-11T23:10:38Z</dcterms:modified>
</cp:coreProperties>
</file>